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el título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12" name="Nivel de texto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3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21" name="Nivel de texto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22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el título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Texto del título</a:t>
            </a:r>
          </a:p>
        </p:txBody>
      </p:sp>
      <p:sp>
        <p:nvSpPr>
          <p:cNvPr id="30" name="Nivel de texto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31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39" name="Nivel de texto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0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48" name="Nivel de texto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o del título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Texto del título</a:t>
            </a:r>
          </a:p>
        </p:txBody>
      </p:sp>
      <p:sp>
        <p:nvSpPr>
          <p:cNvPr id="58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o del título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Texto del título</a:t>
            </a:r>
          </a:p>
        </p:txBody>
      </p:sp>
      <p:sp>
        <p:nvSpPr>
          <p:cNvPr id="73" name="Nivel de texto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el título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Texto del título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Nivel de texto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8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el título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Texto del título</a:t>
            </a:r>
          </a:p>
        </p:txBody>
      </p:sp>
      <p:sp>
        <p:nvSpPr>
          <p:cNvPr id="3" name="Nivel de texto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4" name="Número de diapositiva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2F549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-1" y="4297679"/>
            <a:ext cx="12191697" cy="73153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868680" y="2103120"/>
            <a:ext cx="10424160" cy="1252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15000"/>
              </a:lnSpc>
              <a:defRPr b="1" sz="3800">
                <a:solidFill>
                  <a:srgbClr val="FFFFFF"/>
                </a:solidFill>
              </a:defRPr>
            </a:pPr>
            <a:r>
              <a:t>Anotación de sesgo léxico y discursivo</a:t>
            </a:r>
          </a:p>
          <a:p>
            <a:pPr>
              <a:lnSpc>
                <a:spcPct val="115000"/>
              </a:lnSpc>
              <a:defRPr b="1" sz="3800">
                <a:solidFill>
                  <a:srgbClr val="FFFFFF"/>
                </a:solidFill>
              </a:defRPr>
            </a:pPr>
            <a:r>
              <a:t>en medios colombianos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868680" y="4526279"/>
            <a:ext cx="10424160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>
                <a:solidFill>
                  <a:srgbClr val="D8E0F0"/>
                </a:solidFill>
              </a:defRPr>
            </a:lvl1pPr>
          </a:lstStyle>
          <a:p>
            <a:pPr/>
            <a:r>
              <a:t>Guía para anotadores — Trabajo de grado, Maestría en Inteligencia Artificial, PUJ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868680" y="5029200"/>
            <a:ext cx="10424160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1500">
                <a:solidFill>
                  <a:srgbClr val="AFBFE0"/>
                </a:solidFill>
              </a:defRPr>
            </a:lvl1pPr>
          </a:lstStyle>
          <a:p>
            <a:pPr/>
            <a:r>
              <a:t>Sebastian Eduardo Fanchi  ·  Tutor: Andrés Darío Moreno Barbosa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2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BIENVENIDA</a:t>
            </a:r>
          </a:p>
        </p:txBody>
      </p:sp>
      <p:sp>
        <p:nvSpPr>
          <p:cNvPr id="103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Gracias por ayudarnos con esto</a:t>
            </a:r>
          </a:p>
        </p:txBody>
      </p:sp>
      <p:sp>
        <p:nvSpPr>
          <p:cNvPr id="104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5" name="TextBox 6"/>
          <p:cNvSpPr txBox="1"/>
          <p:nvPr/>
        </p:nvSpPr>
        <p:spPr>
          <a:xfrm>
            <a:off x="777239" y="1828800"/>
            <a:ext cx="10424161" cy="25701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800"/>
              </a:spcBef>
              <a:defRPr b="1" sz="2000">
                <a:solidFill>
                  <a:srgbClr val="222222"/>
                </a:solidFill>
              </a:defRPr>
            </a:pPr>
            <a:r>
              <a:t>•  Lo que van a hacer en las próximas semanas es la base de todo el proyecto: sin ejemplos reales marcados a mano, no hay forma de entrenar ni evaluar nada de lo que viene después.</a:t>
            </a:r>
          </a:p>
          <a:p>
            <a:pPr>
              <a:lnSpc>
                <a:spcPct val="120000"/>
              </a:lnSpc>
              <a:spcBef>
                <a:spcPts val="1800"/>
              </a:spcBef>
              <a:defRPr sz="2000">
                <a:solidFill>
                  <a:srgbClr val="222222"/>
                </a:solidFill>
              </a:defRPr>
            </a:pPr>
            <a:r>
              <a:t>•  No necesitan saber programación ni lingüística formal — sí leer con calma y aplicar un criterio consistente.</a:t>
            </a:r>
          </a:p>
          <a:p>
            <a:pPr>
              <a:lnSpc>
                <a:spcPct val="120000"/>
              </a:lnSpc>
              <a:spcBef>
                <a:spcPts val="1800"/>
              </a:spcBef>
              <a:defRPr sz="2000">
                <a:solidFill>
                  <a:srgbClr val="222222"/>
                </a:solidFill>
              </a:defRPr>
            </a:pPr>
            <a:r>
              <a:t>•  Van a aparecer casos difíciles. Es normal — hay un canal abierto para resolver dudas, mejor preguntar que adivinar.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CONTEXTO Y PROPÓSITO</a:t>
            </a:r>
          </a:p>
        </p:txBody>
      </p:sp>
      <p:sp>
        <p:nvSpPr>
          <p:cNvPr id="110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¿Cómo empezó esto y para qué sirve?</a:t>
            </a:r>
          </a:p>
        </p:txBody>
      </p:sp>
      <p:sp>
        <p:nvSpPr>
          <p:cNvPr id="111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TextBox 6"/>
          <p:cNvSpPr txBox="1"/>
          <p:nvPr/>
        </p:nvSpPr>
        <p:spPr>
          <a:xfrm>
            <a:off x="777239" y="1783079"/>
            <a:ext cx="10424161" cy="3696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200"/>
              </a:spcBef>
              <a:defRPr>
                <a:solidFill>
                  <a:srgbClr val="222222"/>
                </a:solidFill>
              </a:defRPr>
            </a:pPr>
            <a:r>
              <a:t>•  Hoy la mayoría de personas se informa por medios digitales, y a veces una noticia está redactada de forma que —sin que el lector lo note— favorece a alguien o perjudica a otro.</a:t>
            </a:r>
          </a:p>
          <a:p>
            <a:pPr>
              <a:lnSpc>
                <a:spcPct val="120000"/>
              </a:lnSpc>
              <a:spcBef>
                <a:spcPts val="1200"/>
              </a:spcBef>
              <a:defRPr b="1">
                <a:solidFill>
                  <a:srgbClr val="222222"/>
                </a:solidFill>
              </a:defRPr>
            </a:pPr>
            <a:r>
              <a:t>•  Este proyecto construye un sistema que detecta ese sesgo, recomienda otras miradas sobre la misma noticia, y le explica al lector qué encontró.</a:t>
            </a:r>
          </a:p>
          <a:p>
            <a:pPr>
              <a:lnSpc>
                <a:spcPct val="120000"/>
              </a:lnSpc>
              <a:spcBef>
                <a:spcPts val="1200"/>
              </a:spcBef>
              <a:defRPr>
                <a:solidFill>
                  <a:srgbClr val="222222"/>
                </a:solidFill>
              </a:defRPr>
            </a:pPr>
            <a:r>
              <a:t>•  Pero antes de enseñarle eso a un computador, alguien tiene que mostrarle ejemplos reales marcados a mano de qué es sesgo y qué no — sus 500 oraciones anotadas van a:</a:t>
            </a:r>
          </a:p>
          <a:p>
            <a:pPr>
              <a:lnSpc>
                <a:spcPct val="120000"/>
              </a:lnSpc>
              <a:spcBef>
                <a:spcPts val="1200"/>
              </a:spcBef>
              <a:defRPr sz="1600">
                <a:solidFill>
                  <a:srgbClr val="222222"/>
                </a:solidFill>
              </a:defRPr>
            </a:pPr>
            <a:r>
              <a:t>     -  Evaluar qué tan bien un modelo automático detecta el mismo sesgo que ustedes.</a:t>
            </a:r>
          </a:p>
          <a:p>
            <a:pPr>
              <a:lnSpc>
                <a:spcPct val="120000"/>
              </a:lnSpc>
              <a:spcBef>
                <a:spcPts val="1200"/>
              </a:spcBef>
              <a:defRPr sz="1600">
                <a:solidFill>
                  <a:srgbClr val="222222"/>
                </a:solidFill>
              </a:defRPr>
            </a:pPr>
            <a:r>
              <a:t>     -  Alimentar un motor que arma un mix diverso de noticias sobre un mismo tema.</a:t>
            </a:r>
          </a:p>
          <a:p>
            <a:pPr>
              <a:lnSpc>
                <a:spcPct val="120000"/>
              </a:lnSpc>
              <a:spcBef>
                <a:spcPts val="1200"/>
              </a:spcBef>
              <a:defRPr sz="1600">
                <a:solidFill>
                  <a:srgbClr val="222222"/>
                </a:solidFill>
              </a:defRPr>
            </a:pPr>
            <a:r>
              <a:t>     -  Generar explicaciones en lenguaje natural para el lector.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6" name="TextBox 3"/>
          <p:cNvSpPr txBox="1"/>
          <p:nvPr/>
        </p:nvSpPr>
        <p:spPr>
          <a:xfrm>
            <a:off x="640080" y="320040"/>
            <a:ext cx="9144001" cy="1893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EL CORPUS</a:t>
            </a:r>
          </a:p>
        </p:txBody>
      </p:sp>
      <p:sp>
        <p:nvSpPr>
          <p:cNvPr id="117" name="TextBox 4"/>
          <p:cNvSpPr txBox="1"/>
          <p:nvPr/>
        </p:nvSpPr>
        <p:spPr>
          <a:xfrm>
            <a:off x="640079" y="658368"/>
            <a:ext cx="10789922" cy="398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Qué van a leer</a:t>
            </a:r>
          </a:p>
        </p:txBody>
      </p:sp>
      <p:sp>
        <p:nvSpPr>
          <p:cNvPr id="118" name="Rectangle 5"/>
          <p:cNvSpPr/>
          <p:nvPr/>
        </p:nvSpPr>
        <p:spPr>
          <a:xfrm>
            <a:off x="640080" y="1417319"/>
            <a:ext cx="3840480" cy="36577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6"/>
          <p:cNvSpPr txBox="1"/>
          <p:nvPr/>
        </p:nvSpPr>
        <p:spPr>
          <a:xfrm>
            <a:off x="731519" y="1737360"/>
            <a:ext cx="10515601" cy="485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700">
                <a:solidFill>
                  <a:srgbClr val="222222"/>
                </a:solidFill>
              </a:defRPr>
            </a:lvl1pPr>
          </a:lstStyle>
          <a:p>
            <a:pPr/>
            <a:r>
              <a:t>500 oraciones reales, sacadas de 89 artículos de 5 medios colombianos (Infobae Colombia, El Tiempo, El Espectador, La Silla Vacía y Semana).</a:t>
            </a:r>
          </a:p>
        </p:txBody>
      </p:sp>
      <p:graphicFrame>
        <p:nvGraphicFramePr>
          <p:cNvPr id="120" name="Table 7"/>
          <p:cNvGraphicFramePr/>
          <p:nvPr/>
        </p:nvGraphicFramePr>
        <p:xfrm>
          <a:off x="731519" y="2423160"/>
          <a:ext cx="10607042" cy="301751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377440"/>
                <a:gridCol w="6766560"/>
                <a:gridCol w="1463040"/>
              </a:tblGrid>
              <a:tr h="50291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Dominio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El debate que se cubre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Oraciones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Política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Transición de gobierno, relación con EE.UU., reformas pensional y tributaria, seguridad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100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Economía y negocios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Reforma laboral (Decreto 0234) y negociación del salario mínimo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100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Salud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Crisis de las EPS y reforma a la salud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100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Medio ambiente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Fracking y minería en el páramo de Santurbán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100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Deportes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Selección Colombia, caso Sebastián Villa y arbitraje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100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8"/>
          <p:cNvSpPr txBox="1"/>
          <p:nvPr/>
        </p:nvSpPr>
        <p:spPr>
          <a:xfrm>
            <a:off x="731519" y="5623559"/>
            <a:ext cx="10515601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500">
                <a:solidFill>
                  <a:srgbClr val="595959"/>
                </a:solidFill>
              </a:defRPr>
            </a:lvl1pPr>
          </a:lstStyle>
          <a:p>
            <a:pPr/>
            <a:r>
              <a:t>326 son noticia dura y 174 son opinión/análisis. El sesgo se ve distinto en cada una: en la noticia dura suele estar escondido; en la opinión es más explícito, y aun así hay que marcarlo igual.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EL PROCESO</a:t>
            </a:r>
          </a:p>
        </p:txBody>
      </p:sp>
      <p:sp>
        <p:nvSpPr>
          <p:cNvPr id="126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Cómo anotar, paso a paso</a:t>
            </a:r>
          </a:p>
        </p:txBody>
      </p:sp>
      <p:sp>
        <p:nvSpPr>
          <p:cNvPr id="127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6"/>
          <p:cNvSpPr txBox="1"/>
          <p:nvPr/>
        </p:nvSpPr>
        <p:spPr>
          <a:xfrm>
            <a:off x="777239" y="1828800"/>
            <a:ext cx="10424161" cy="2765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900">
                <a:solidFill>
                  <a:srgbClr val="222222"/>
                </a:solidFill>
              </a:defRPr>
            </a:pPr>
            <a:r>
              <a:t>•  1.  Lean la oración completa (revisen la anterior/siguiente si hace falta contexto).</a:t>
            </a:r>
          </a:p>
          <a:p>
            <a:pPr>
              <a:spcBef>
                <a:spcPts val="1000"/>
              </a:spcBef>
              <a:defRPr sz="1900">
                <a:solidFill>
                  <a:srgbClr val="222222"/>
                </a:solidFill>
              </a:defRPr>
            </a:pPr>
            <a:r>
              <a:t>•  2.  ¿Alguna de las 9 categorías aplica? Repásenlas una por una si hace falta.</a:t>
            </a:r>
          </a:p>
          <a:p>
            <a:pPr>
              <a:spcBef>
                <a:spcPts val="1000"/>
              </a:spcBef>
              <a:defRPr sz="1900">
                <a:solidFill>
                  <a:srgbClr val="222222"/>
                </a:solidFill>
              </a:defRPr>
            </a:pPr>
            <a:r>
              <a:t>•  3.  Si SÍ: márquenla TRUE y escriban el span — la palabra o frase EXACTA responsable.</a:t>
            </a:r>
          </a:p>
          <a:p>
            <a:pPr>
              <a:spcBef>
                <a:spcPts val="1000"/>
              </a:spcBef>
              <a:defRPr sz="1900">
                <a:solidFill>
                  <a:srgbClr val="222222"/>
                </a:solidFill>
              </a:defRPr>
            </a:pPr>
            <a:r>
              <a:t>•  4.  Pueden aplicar varias a la vez: marquen todas las que correspondan, cada una con su span.</a:t>
            </a:r>
          </a:p>
          <a:p>
            <a:pPr>
              <a:spcBef>
                <a:spcPts val="1000"/>
              </a:spcBef>
              <a:defRPr sz="1900">
                <a:solidFill>
                  <a:srgbClr val="222222"/>
                </a:solidFill>
              </a:defRPr>
            </a:pPr>
            <a:r>
              <a:t>•  5.  Definan direccion y, si no es neutral, elijan actor_objetivo de la lista.</a:t>
            </a:r>
          </a:p>
          <a:p>
            <a:pPr>
              <a:spcBef>
                <a:spcPts val="1000"/>
              </a:spcBef>
              <a:defRPr b="1" sz="1900">
                <a:solidFill>
                  <a:srgbClr val="222222"/>
                </a:solidFill>
              </a:defRPr>
            </a:pPr>
            <a:r>
              <a:t>•  6.  Si NO aplica ninguna: todo en FALSE y direccion en neutral. Es un resultado tan válido como cualquier otro — no salteen esas oraciones.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LA HERRAMIENTA</a:t>
            </a:r>
          </a:p>
        </p:txBody>
      </p:sp>
      <p:sp>
        <p:nvSpPr>
          <p:cNvPr id="133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Dónde vamos a trabajar: el Excel</a:t>
            </a:r>
          </a:p>
        </p:txBody>
      </p:sp>
      <p:sp>
        <p:nvSpPr>
          <p:cNvPr id="134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6"/>
          <p:cNvSpPr txBox="1"/>
          <p:nvPr/>
        </p:nvSpPr>
        <p:spPr>
          <a:xfrm>
            <a:off x="777239" y="1828800"/>
            <a:ext cx="10424161" cy="36453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b="1">
                <a:solidFill>
                  <a:srgbClr val="222222"/>
                </a:solidFill>
              </a:defRPr>
            </a:pPr>
            <a:r>
              <a:t>•  Archivo: corpus_multidominio_500_oraciones.xlsx. Trabajamos en la hoja «Corpus - oraciones».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Una fila = una oración. Los datos van de la fila 5 a la 504: son las 500 oraciones, sin filas de ejemplo intercaladas.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Columnas A–I y url_fuente: vienen llenas y NO se tocan. La columna «aux» tampoco: alimenta el tablero de avance.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Las celdas amarillas son las suyas. Casi todas tienen desplegable: elijan de la lista, no escriban a mano.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¿Les falta contexto? Tienen oracion_anterior y oracion_siguiente al lado, y la url del artículo original al final de la fila.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Guarden seguido. Si una oración los traba, déjenla marcada y sigan — mejor consultarla después que frenar el avance.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EL CONCEPTO CENTRAL — PARTE 1</a:t>
            </a:r>
          </a:p>
        </p:txBody>
      </p:sp>
      <p:sp>
        <p:nvSpPr>
          <p:cNvPr id="140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Sesgo léxico: el que sí se nota</a:t>
            </a:r>
          </a:p>
        </p:txBody>
      </p:sp>
      <p:sp>
        <p:nvSpPr>
          <p:cNvPr id="141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44" name="Rounded Rectangle 6"/>
          <p:cNvGrpSpPr/>
          <p:nvPr/>
        </p:nvGrpSpPr>
        <p:grpSpPr>
          <a:xfrm>
            <a:off x="731519" y="1828800"/>
            <a:ext cx="2377441" cy="457200"/>
            <a:chOff x="0" y="0"/>
            <a:chExt cx="2377439" cy="457200"/>
          </a:xfrm>
        </p:grpSpPr>
        <p:sp>
          <p:nvSpPr>
            <p:cNvPr id="142" name="Rectángulo redondeado"/>
            <p:cNvSpPr/>
            <p:nvPr/>
          </p:nvSpPr>
          <p:spPr>
            <a:xfrm>
              <a:off x="0" y="0"/>
              <a:ext cx="2377440" cy="457200"/>
            </a:xfrm>
            <a:prstGeom prst="roundRect">
              <a:avLst>
                <a:gd name="adj" fmla="val 16667"/>
              </a:avLst>
            </a:prstGeom>
            <a:solidFill>
              <a:srgbClr val="E8A33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3" name="LÉXICO"/>
            <p:cNvSpPr txBox="1"/>
            <p:nvPr/>
          </p:nvSpPr>
          <p:spPr>
            <a:xfrm>
              <a:off x="68039" y="89601"/>
              <a:ext cx="2241363" cy="277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LÉXICO</a:t>
              </a:r>
            </a:p>
          </p:txBody>
        </p:sp>
      </p:grpSp>
      <p:sp>
        <p:nvSpPr>
          <p:cNvPr id="145" name="TextBox 7"/>
          <p:cNvSpPr txBox="1"/>
          <p:nvPr/>
        </p:nvSpPr>
        <p:spPr>
          <a:xfrm>
            <a:off x="777239" y="2560320"/>
            <a:ext cx="10424161" cy="20134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222222"/>
                </a:solidFill>
              </a:defRPr>
            </a:pPr>
            <a:r>
              <a:t>•  Vive en UNA PALABRA o frase corta cargada de valoración.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222222"/>
                </a:solidFill>
              </a:defRPr>
            </a:pPr>
            <a:r>
              <a:t>•  El lector normalmente lo detecta solo, aunque no sepa ponerle nombre.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b="1" sz="2000">
                <a:solidFill>
                  <a:srgbClr val="222222"/>
                </a:solidFill>
              </a:defRPr>
            </a:pPr>
            <a:r>
              <a:t>•  Ejemplo: "el ministro maniobró para evitar la pregunta" en vez de "el ministro gestionó..."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222222"/>
                </a:solidFill>
              </a:defRPr>
            </a:pPr>
            <a:r>
              <a:t>•  "Maniobró" ya trae un juicio implícito — sugiere algo turbio, sin decirlo directamente.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8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EL CONCEPTO CENTRAL — PARTE 2</a:t>
            </a:r>
          </a:p>
        </p:txBody>
      </p:sp>
      <p:sp>
        <p:nvSpPr>
          <p:cNvPr id="150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Sesgo discursivo: el que cuesta notar</a:t>
            </a:r>
          </a:p>
        </p:txBody>
      </p:sp>
      <p:sp>
        <p:nvSpPr>
          <p:cNvPr id="151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54" name="Rounded Rectangle 6"/>
          <p:cNvGrpSpPr/>
          <p:nvPr/>
        </p:nvGrpSpPr>
        <p:grpSpPr>
          <a:xfrm>
            <a:off x="731519" y="1828800"/>
            <a:ext cx="2377441" cy="457200"/>
            <a:chOff x="0" y="0"/>
            <a:chExt cx="2377439" cy="457200"/>
          </a:xfrm>
        </p:grpSpPr>
        <p:sp>
          <p:nvSpPr>
            <p:cNvPr id="152" name="Rectángulo redondeado"/>
            <p:cNvSpPr/>
            <p:nvPr/>
          </p:nvSpPr>
          <p:spPr>
            <a:xfrm>
              <a:off x="0" y="0"/>
              <a:ext cx="2377440" cy="457200"/>
            </a:xfrm>
            <a:prstGeom prst="roundRect">
              <a:avLst>
                <a:gd name="adj" fmla="val 16667"/>
              </a:avLst>
            </a:prstGeom>
            <a:solidFill>
              <a:srgbClr val="2E868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3" name="DISCURSIVO"/>
            <p:cNvSpPr txBox="1"/>
            <p:nvPr/>
          </p:nvSpPr>
          <p:spPr>
            <a:xfrm>
              <a:off x="68039" y="89601"/>
              <a:ext cx="2241363" cy="277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DISCURSIVO</a:t>
              </a:r>
            </a:p>
          </p:txBody>
        </p:sp>
      </p:grpSp>
      <p:sp>
        <p:nvSpPr>
          <p:cNvPr id="155" name="TextBox 7"/>
          <p:cNvSpPr txBox="1"/>
          <p:nvPr/>
        </p:nvSpPr>
        <p:spPr>
          <a:xfrm>
            <a:off x="777239" y="2560320"/>
            <a:ext cx="10424161" cy="28241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400"/>
              </a:spcBef>
              <a:defRPr sz="2000">
                <a:solidFill>
                  <a:srgbClr val="222222"/>
                </a:solidFill>
              </a:defRPr>
            </a:pPr>
            <a:r>
              <a:t>•  No es una palabra puntual — es CÓMO está armada la oración completa.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sz="2000">
                <a:solidFill>
                  <a:srgbClr val="222222"/>
                </a:solidFill>
              </a:defRPr>
            </a:pPr>
            <a:r>
              <a:t>•  El lector normalmente no lo detecta sin ayuda, aunque el efecto sí lo afecte.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b="1" sz="2000">
                <a:solidFill>
                  <a:srgbClr val="222222"/>
                </a:solidFill>
              </a:defRPr>
            </a:pPr>
            <a:r>
              <a:t>•  Ejemplo: "El alcalde sabía que la obra fracasaría, pero la inauguró igual."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sz="2000">
                <a:solidFill>
                  <a:srgbClr val="222222"/>
                </a:solidFill>
              </a:defRPr>
            </a:pPr>
            <a:r>
              <a:t>•  Nadie entrevistó al alcalde para saber qué pensaba — se le atribuye una intención sin ninguna fuente.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b="1" sz="2000">
                <a:solidFill>
                  <a:srgbClr val="222222"/>
                </a:solidFill>
              </a:defRPr>
            </a:pPr>
            <a:r>
              <a:t>•  Por eso es más importante explicarlo: el lector no lo va a notar solo.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-1" y="1270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LAS 9 CATEGORÍAS — GRUPO LÉXICO (J1)</a:t>
            </a:r>
          </a:p>
        </p:txBody>
      </p:sp>
      <p:sp>
        <p:nvSpPr>
          <p:cNvPr id="160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5 formas de sesgo léxico</a:t>
            </a:r>
          </a:p>
        </p:txBody>
      </p:sp>
      <p:sp>
        <p:nvSpPr>
          <p:cNvPr id="161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aphicFrame>
        <p:nvGraphicFramePr>
          <p:cNvPr id="162" name="Table 6"/>
          <p:cNvGraphicFramePr/>
          <p:nvPr/>
        </p:nvGraphicFramePr>
        <p:xfrm>
          <a:off x="640080" y="1691639"/>
          <a:ext cx="10881360" cy="448056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377440"/>
                <a:gridCol w="4846320"/>
                <a:gridCol w="3657600"/>
              </a:tblGrid>
              <a:tr h="746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Categoría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En criollo, ¿qué es?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Ejemplo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verbo_factivo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Da por hecho algo, sin dejar espacio a duda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"reconoció que la medida fue un error"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verbo_asertivo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Da certeza a algo sin evidencia que lo respalde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"confirmó" en vez del neutro "dijo"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palabra_subjetiva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Un verbo o sustantivo con juicio de valor escondido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"maniobró" en vez de "gestionó"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hedge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Matiza una duda (no siempre es sesgo)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"presuntamente", "al parecer"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etiqueta_valorativa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Un adjetivo o etiqueta claramente calificativa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"la polémica reforma"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LAS 9 CATEGORÍAS — GRUPO DISCURSIVO (J2)</a:t>
            </a:r>
          </a:p>
        </p:txBody>
      </p:sp>
      <p:sp>
        <p:nvSpPr>
          <p:cNvPr id="167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4 formas de sesgo discursivo</a:t>
            </a:r>
          </a:p>
        </p:txBody>
      </p:sp>
      <p:sp>
        <p:nvSpPr>
          <p:cNvPr id="168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aphicFrame>
        <p:nvGraphicFramePr>
          <p:cNvPr id="169" name="Table 6"/>
          <p:cNvGraphicFramePr/>
          <p:nvPr/>
        </p:nvGraphicFramePr>
        <p:xfrm>
          <a:off x="640080" y="1691639"/>
          <a:ext cx="10881360" cy="393192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377440"/>
                <a:gridCol w="5029200"/>
                <a:gridCol w="3474720"/>
              </a:tblGrid>
              <a:tr h="786384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Categoría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En criollo, ¿qué es?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600">
                          <a:solidFill>
                            <a:srgbClr val="FFFFFF"/>
                          </a:solidFill>
                        </a:rPr>
                        <a:t>Ejemplo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sensacionalismo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Tono exagerado o dramático para generar impacto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"un escándalo sin precedentes"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mind_reading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Le atribuye un pensamiento o intención a alguien sin fuente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"sabiendo que esto afectaría..."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falta_atribucion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Una afirmación fuerte sin decir quién la sostiene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"se dice que..." sin nombrar a nadie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opinion_como_hecho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Una opinión con estructura gramatical de hecho comprobado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500">
                          <a:solidFill>
                            <a:srgbClr val="222222"/>
                          </a:solidFill>
                        </a:rPr>
                        <a:t>"el plan fracasará" (sin matiz)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2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DIRECCIÓN DEL SESGO</a:t>
            </a:r>
          </a:p>
        </p:txBody>
      </p:sp>
      <p:sp>
        <p:nvSpPr>
          <p:cNvPr id="174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¿A quién afecta la oración?</a:t>
            </a:r>
          </a:p>
        </p:txBody>
      </p:sp>
      <p:sp>
        <p:nvSpPr>
          <p:cNvPr id="175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6"/>
          <p:cNvSpPr txBox="1"/>
          <p:nvPr/>
        </p:nvSpPr>
        <p:spPr>
          <a:xfrm>
            <a:off x="777239" y="1783079"/>
            <a:ext cx="10424161" cy="2510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b="1" sz="2000">
                <a:solidFill>
                  <a:srgbClr val="222222"/>
                </a:solidFill>
              </a:defRPr>
            </a:pPr>
            <a:r>
              <a:t>•  direccion: ¿la oración favorece a alguien, lo perjudica, o es neutral?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      -  Piensen en el actor del que habla la oración, no en el medio que la publicó.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      -  Si nadie sale favorecido ni perjudicado, es neutral. Es una respuesta válida y frecuente.</a:t>
            </a:r>
          </a:p>
          <a:p>
            <a:pPr>
              <a:spcBef>
                <a:spcPts val="1000"/>
              </a:spcBef>
              <a:defRPr b="1" sz="2000">
                <a:solidFill>
                  <a:srgbClr val="222222"/>
                </a:solidFill>
              </a:defRPr>
            </a:pPr>
            <a:r>
              <a:t>•  actor_objetivo: ¿a quién apunta? Se elige de una lista cerrada (la vemos ahora).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      -  Se llena solo cuando la dirección NO es neutral.</a:t>
            </a:r>
          </a:p>
          <a:p>
            <a:pPr>
              <a:spcBef>
                <a:spcPts val="1000"/>
              </a:spcBef>
              <a:defRPr b="1" sz="2000">
                <a:solidFill>
                  <a:srgbClr val="222222"/>
                </a:solidFill>
              </a:defRPr>
            </a:pPr>
            <a:r>
              <a:t>•  Y eso es todo: 9 categorías + dirección + actor.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9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TextBox 3"/>
          <p:cNvSpPr txBox="1"/>
          <p:nvPr/>
        </p:nvSpPr>
        <p:spPr>
          <a:xfrm>
            <a:off x="640080" y="320040"/>
            <a:ext cx="9144001" cy="1893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DIRECCIÓN DEL SESGO</a:t>
            </a:r>
          </a:p>
        </p:txBody>
      </p:sp>
      <p:sp>
        <p:nvSpPr>
          <p:cNvPr id="181" name="TextBox 4"/>
          <p:cNvSpPr txBox="1"/>
          <p:nvPr/>
        </p:nvSpPr>
        <p:spPr>
          <a:xfrm>
            <a:off x="640079" y="658368"/>
            <a:ext cx="10789922" cy="398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actor_objetivo: elijan de la lista</a:t>
            </a:r>
          </a:p>
        </p:txBody>
      </p:sp>
      <p:sp>
        <p:nvSpPr>
          <p:cNvPr id="182" name="Rectangle 5"/>
          <p:cNvSpPr/>
          <p:nvPr/>
        </p:nvSpPr>
        <p:spPr>
          <a:xfrm>
            <a:off x="640080" y="1417319"/>
            <a:ext cx="3840480" cy="36577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6"/>
          <p:cNvSpPr txBox="1"/>
          <p:nvPr/>
        </p:nvSpPr>
        <p:spPr>
          <a:xfrm>
            <a:off x="731519" y="1737360"/>
            <a:ext cx="105156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/>
            <a:r>
              <a:t>Es un desplegable con 9 opciones. Esto evita que cada quien escriba distinto.</a:t>
            </a:r>
          </a:p>
        </p:txBody>
      </p:sp>
      <p:graphicFrame>
        <p:nvGraphicFramePr>
          <p:cNvPr id="184" name="Table 7"/>
          <p:cNvGraphicFramePr/>
          <p:nvPr/>
        </p:nvGraphicFramePr>
        <p:xfrm>
          <a:off x="731519" y="2240279"/>
          <a:ext cx="10607042" cy="352044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931920"/>
                <a:gridCol w="6675119"/>
              </a:tblGrid>
              <a:tr h="352044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Opción del desplegable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Ejemplos que van a encontrar en el corpus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Gobierno / Ejecutivo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Petro, De la Espriella, ministros, Minsalud, MinAmbiente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Oposición / partidos políticos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Pacto Histórico, Alianza Verde, Iván Cepeda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Instituciones del Estado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Corte Constitucional, Contraloría, Supersalud, Policía, Banco de la República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Empresas y gremios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EPS, Fenalco, ANDI, mineras, Ecopetrol, Avianca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Sindicatos y organizaciones sociales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CUT, centrales obreras, Comité Santurbán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Ciudadanía afectada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Pacientes, usuarios, comunidades, hinchada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Actores del deporte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FCF, Dimayor, Néstor Lorenzo, jugadores, árbitros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Actor internacional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Trump, EE.UU., Venezuela, multinacionales, IPCC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Otro / no identificable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Cuando de verdad no encaja en ninguna de las anteriores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187" name="Rounded Rectangle 8"/>
          <p:cNvGrpSpPr/>
          <p:nvPr/>
        </p:nvGrpSpPr>
        <p:grpSpPr>
          <a:xfrm>
            <a:off x="731519" y="5897879"/>
            <a:ext cx="10607042" cy="658369"/>
            <a:chOff x="0" y="0"/>
            <a:chExt cx="10607040" cy="658368"/>
          </a:xfrm>
        </p:grpSpPr>
        <p:sp>
          <p:nvSpPr>
            <p:cNvPr id="185" name="Rectángulo redondeado"/>
            <p:cNvSpPr/>
            <p:nvPr/>
          </p:nvSpPr>
          <p:spPr>
            <a:xfrm>
              <a:off x="0" y="0"/>
              <a:ext cx="10607041" cy="658369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 w="9525" cap="flat">
              <a:solidFill>
                <a:srgbClr val="D8DEE6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6" name="Dos reglas: anoten el ROL, no la persona (Petro como presidente → Gobierno / Ejecutivo).   ·   Si direccion = neutral, dejen la celda vacía."/>
            <p:cNvSpPr txBox="1"/>
            <p:nvPr/>
          </p:nvSpPr>
          <p:spPr>
            <a:xfrm>
              <a:off x="174061" y="89601"/>
              <a:ext cx="10350358" cy="50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500">
                  <a:solidFill>
                    <a:srgbClr val="1F3864"/>
                  </a:solidFill>
                </a:defRPr>
              </a:lvl1pPr>
            </a:lstStyle>
            <a:p>
              <a:pPr/>
              <a:r>
                <a:t>Dos reglas: anoten el ROL, no la persona (Petro como presidente → Gobierno / Ejecutivo).   ·   Si direccion = neutral, dejen la celda vacía.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1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ANTES DE EMPEZAR</a:t>
            </a:r>
          </a:p>
        </p:txBody>
      </p:sp>
      <p:sp>
        <p:nvSpPr>
          <p:cNvPr id="192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Tips y errores comunes</a:t>
            </a:r>
          </a:p>
        </p:txBody>
      </p:sp>
      <p:sp>
        <p:nvSpPr>
          <p:cNvPr id="193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4" name="TextBox 6"/>
          <p:cNvSpPr txBox="1"/>
          <p:nvPr/>
        </p:nvSpPr>
        <p:spPr>
          <a:xfrm>
            <a:off x="777239" y="1828800"/>
            <a:ext cx="10424161" cy="26527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400"/>
              </a:spcBef>
              <a:defRPr b="1" sz="1900">
                <a:solidFill>
                  <a:srgbClr val="222222"/>
                </a:solidFill>
              </a:defRPr>
            </a:pPr>
            <a:r>
              <a:t>•  Un hedge no siempre es sesgo.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sz="1700">
                <a:solidFill>
                  <a:srgbClr val="222222"/>
                </a:solidFill>
              </a:defRPr>
            </a:pPr>
            <a:r>
              <a:t>     -  Si matiza una fuente genuinamente no confirmada, reduce el sesgo, no lo agrega — miren la dirección del matiz, no solo si está presente.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b="1" sz="1900">
                <a:solidFill>
                  <a:srgbClr val="222222"/>
                </a:solidFill>
              </a:defRPr>
            </a:pPr>
            <a:r>
              <a:t>•  No confundan la opinión de una fuente citada con la del periodista.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sz="1700">
                <a:solidFill>
                  <a:srgbClr val="222222"/>
                </a:solidFill>
              </a:defRPr>
            </a:pPr>
            <a:r>
              <a:t>     -  Si está entre comillas y atribuida a alguien identificado, es opinión de esa persona.</a:t>
            </a:r>
          </a:p>
          <a:p>
            <a:pPr>
              <a:lnSpc>
                <a:spcPct val="120000"/>
              </a:lnSpc>
              <a:spcBef>
                <a:spcPts val="1400"/>
              </a:spcBef>
              <a:defRPr b="1" sz="1900">
                <a:solidFill>
                  <a:srgbClr val="222222"/>
                </a:solidFill>
              </a:defRPr>
            </a:pPr>
            <a:r>
              <a:t>•  Anoten lo literal, no lo que creen que el periodista "quiso decir".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8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EJEMPLO RESUELTO 1 — LÉXICO</a:t>
            </a:r>
          </a:p>
        </p:txBody>
      </p:sp>
      <p:sp>
        <p:nvSpPr>
          <p:cNvPr id="199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Vamos a razonarlo juntos</a:t>
            </a:r>
          </a:p>
        </p:txBody>
      </p:sp>
      <p:sp>
        <p:nvSpPr>
          <p:cNvPr id="200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1" name="Rounded Rectangle 6"/>
          <p:cNvSpPr/>
          <p:nvPr/>
        </p:nvSpPr>
        <p:spPr>
          <a:xfrm>
            <a:off x="731519" y="1737360"/>
            <a:ext cx="10698482" cy="4572001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 w="12700">
            <a:solidFill>
              <a:srgbClr val="D8DEE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4" name="Rounded Rectangle 7"/>
          <p:cNvGrpSpPr/>
          <p:nvPr/>
        </p:nvGrpSpPr>
        <p:grpSpPr>
          <a:xfrm>
            <a:off x="960119" y="1920239"/>
            <a:ext cx="2377441" cy="457201"/>
            <a:chOff x="0" y="0"/>
            <a:chExt cx="2377439" cy="457200"/>
          </a:xfrm>
        </p:grpSpPr>
        <p:sp>
          <p:nvSpPr>
            <p:cNvPr id="202" name="Rectángulo redondeado"/>
            <p:cNvSpPr/>
            <p:nvPr/>
          </p:nvSpPr>
          <p:spPr>
            <a:xfrm>
              <a:off x="0" y="0"/>
              <a:ext cx="2377440" cy="457200"/>
            </a:xfrm>
            <a:prstGeom prst="roundRect">
              <a:avLst>
                <a:gd name="adj" fmla="val 16667"/>
              </a:avLst>
            </a:prstGeom>
            <a:solidFill>
              <a:srgbClr val="E8A33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3" name="SOLO LÉXICO"/>
            <p:cNvSpPr txBox="1"/>
            <p:nvPr/>
          </p:nvSpPr>
          <p:spPr>
            <a:xfrm>
              <a:off x="68039" y="89601"/>
              <a:ext cx="2241363" cy="277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SOLO LÉXICO</a:t>
              </a:r>
            </a:p>
          </p:txBody>
        </p:sp>
      </p:grpSp>
      <p:sp>
        <p:nvSpPr>
          <p:cNvPr id="205" name="TextBox 8"/>
          <p:cNvSpPr txBox="1"/>
          <p:nvPr/>
        </p:nvSpPr>
        <p:spPr>
          <a:xfrm>
            <a:off x="1005839" y="2514600"/>
            <a:ext cx="1014984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1F3864"/>
                </a:solidFill>
              </a:defRPr>
            </a:lvl1pPr>
          </a:lstStyle>
          <a:p>
            <a:pPr/>
            <a:r>
              <a:t>"El polémico ministro se negó a responder preguntas de los periodistas."</a:t>
            </a:r>
          </a:p>
        </p:txBody>
      </p:sp>
      <p:sp>
        <p:nvSpPr>
          <p:cNvPr id="206" name="TextBox 9"/>
          <p:cNvSpPr txBox="1"/>
          <p:nvPr/>
        </p:nvSpPr>
        <p:spPr>
          <a:xfrm>
            <a:off x="1005839" y="3337559"/>
            <a:ext cx="10149842" cy="12196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etiqueta_valorativa = TRUE  →  span: "polémico"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Las demás categorías: FALSE (no hay más mecanismos presentes).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direccion = perjudica  →  actor_objetivo = Gobierno / Ejecutivo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9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0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EJEMPLO RESUELTO 2 — DISCURSIVO</a:t>
            </a:r>
          </a:p>
        </p:txBody>
      </p:sp>
      <p:sp>
        <p:nvSpPr>
          <p:cNvPr id="211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Vamos a razonarlo juntos</a:t>
            </a:r>
          </a:p>
        </p:txBody>
      </p:sp>
      <p:sp>
        <p:nvSpPr>
          <p:cNvPr id="212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ounded Rectangle 6"/>
          <p:cNvSpPr/>
          <p:nvPr/>
        </p:nvSpPr>
        <p:spPr>
          <a:xfrm>
            <a:off x="731519" y="1737360"/>
            <a:ext cx="10698482" cy="4572001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 w="12700">
            <a:solidFill>
              <a:srgbClr val="D8DEE6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Rounded Rectangle 7"/>
          <p:cNvGrpSpPr/>
          <p:nvPr/>
        </p:nvGrpSpPr>
        <p:grpSpPr>
          <a:xfrm>
            <a:off x="960119" y="1920239"/>
            <a:ext cx="2377441" cy="457201"/>
            <a:chOff x="0" y="0"/>
            <a:chExt cx="2377439" cy="457200"/>
          </a:xfrm>
        </p:grpSpPr>
        <p:sp>
          <p:nvSpPr>
            <p:cNvPr id="214" name="Rectángulo redondeado"/>
            <p:cNvSpPr/>
            <p:nvPr/>
          </p:nvSpPr>
          <p:spPr>
            <a:xfrm>
              <a:off x="0" y="0"/>
              <a:ext cx="2377440" cy="457200"/>
            </a:xfrm>
            <a:prstGeom prst="roundRect">
              <a:avLst>
                <a:gd name="adj" fmla="val 16667"/>
              </a:avLst>
            </a:prstGeom>
            <a:solidFill>
              <a:srgbClr val="2E868C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SOLO DISCURSIVO"/>
            <p:cNvSpPr txBox="1"/>
            <p:nvPr/>
          </p:nvSpPr>
          <p:spPr>
            <a:xfrm>
              <a:off x="68039" y="89601"/>
              <a:ext cx="2241363" cy="277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SOLO DISCURSIVO</a:t>
              </a:r>
            </a:p>
          </p:txBody>
        </p:sp>
      </p:grpSp>
      <p:sp>
        <p:nvSpPr>
          <p:cNvPr id="217" name="TextBox 8"/>
          <p:cNvSpPr txBox="1"/>
          <p:nvPr/>
        </p:nvSpPr>
        <p:spPr>
          <a:xfrm>
            <a:off x="1005839" y="2514600"/>
            <a:ext cx="10149842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1F3864"/>
                </a:solidFill>
              </a:defRPr>
            </a:lvl1pPr>
          </a:lstStyle>
          <a:p>
            <a:pPr/>
            <a:r>
              <a:t>"El alcalde sabía que la obra fracasaría, pero decidió inaugurarla de todas formas."</a:t>
            </a:r>
          </a:p>
        </p:txBody>
      </p:sp>
      <p:sp>
        <p:nvSpPr>
          <p:cNvPr id="218" name="TextBox 9"/>
          <p:cNvSpPr txBox="1"/>
          <p:nvPr/>
        </p:nvSpPr>
        <p:spPr>
          <a:xfrm>
            <a:off x="1005839" y="3337559"/>
            <a:ext cx="10149842" cy="12196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mind_reading = TRUE  →  span: "sabía que la obra fracasaría"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No hay ninguna palabra léxicamente cargada — el sesgo está en la estructura.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direccion = perjudica  →  actor_objetivo = Gobierno / Ejecutivo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2" name="TextBox 3"/>
          <p:cNvSpPr txBox="1"/>
          <p:nvPr/>
        </p:nvSpPr>
        <p:spPr>
          <a:xfrm>
            <a:off x="640080" y="320040"/>
            <a:ext cx="9144001" cy="1893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EJEMPLO RESUELTO 3 — LOS DOS A LA VEZ</a:t>
            </a:r>
          </a:p>
        </p:txBody>
      </p:sp>
      <p:sp>
        <p:nvSpPr>
          <p:cNvPr id="223" name="TextBox 4"/>
          <p:cNvSpPr txBox="1"/>
          <p:nvPr/>
        </p:nvSpPr>
        <p:spPr>
          <a:xfrm>
            <a:off x="640079" y="658368"/>
            <a:ext cx="10789922" cy="398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¿Y si la oración tiene ambos?</a:t>
            </a:r>
          </a:p>
        </p:txBody>
      </p:sp>
      <p:sp>
        <p:nvSpPr>
          <p:cNvPr id="224" name="Rectangle 5"/>
          <p:cNvSpPr/>
          <p:nvPr/>
        </p:nvSpPr>
        <p:spPr>
          <a:xfrm>
            <a:off x="640080" y="1417319"/>
            <a:ext cx="3840480" cy="36577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Rounded Rectangle 6"/>
          <p:cNvSpPr/>
          <p:nvPr/>
        </p:nvSpPr>
        <p:spPr>
          <a:xfrm>
            <a:off x="731519" y="1737360"/>
            <a:ext cx="10698482" cy="4572001"/>
          </a:xfrm>
          <a:prstGeom prst="roundRect">
            <a:avLst>
              <a:gd name="adj" fmla="val 16667"/>
            </a:avLst>
          </a:prstGeom>
          <a:solidFill>
            <a:srgbClr val="F5F7FA"/>
          </a:solidFill>
          <a:ln>
            <a:solidFill>
              <a:srgbClr val="D8DEE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28" name="Rounded Rectangle 7"/>
          <p:cNvGrpSpPr/>
          <p:nvPr/>
        </p:nvGrpSpPr>
        <p:grpSpPr>
          <a:xfrm>
            <a:off x="960119" y="1920239"/>
            <a:ext cx="2926081" cy="457201"/>
            <a:chOff x="0" y="0"/>
            <a:chExt cx="2926079" cy="457200"/>
          </a:xfrm>
        </p:grpSpPr>
        <p:sp>
          <p:nvSpPr>
            <p:cNvPr id="226" name="Rectángulo redondeado"/>
            <p:cNvSpPr/>
            <p:nvPr/>
          </p:nvSpPr>
          <p:spPr>
            <a:xfrm>
              <a:off x="0" y="0"/>
              <a:ext cx="2926080" cy="457200"/>
            </a:xfrm>
            <a:prstGeom prst="roundRect">
              <a:avLst>
                <a:gd name="adj" fmla="val 16667"/>
              </a:avLst>
            </a:prstGeom>
            <a:solidFill>
              <a:srgbClr val="E8A33D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27" name="LÉXICO + DISCURSIVO"/>
            <p:cNvSpPr txBox="1"/>
            <p:nvPr/>
          </p:nvSpPr>
          <p:spPr>
            <a:xfrm>
              <a:off x="68039" y="88200"/>
              <a:ext cx="2790003" cy="280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4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LÉXICO + DISCURSIVO</a:t>
              </a:r>
            </a:p>
          </p:txBody>
        </p:sp>
      </p:grpSp>
      <p:sp>
        <p:nvSpPr>
          <p:cNvPr id="229" name="TextBox 8"/>
          <p:cNvSpPr txBox="1"/>
          <p:nvPr/>
        </p:nvSpPr>
        <p:spPr>
          <a:xfrm>
            <a:off x="960119" y="2514600"/>
            <a:ext cx="10241282" cy="485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700">
                <a:solidFill>
                  <a:srgbClr val="1F3864"/>
                </a:solidFill>
              </a:defRPr>
            </a:lvl1pPr>
          </a:lstStyle>
          <a:p>
            <a:pPr/>
            <a:r>
              <a:t>"El Gobierno impuso la polémica reforma tributaria pese a las advertencias de los gremios, sabiendo que afectaría directamente a la clase media."</a:t>
            </a:r>
          </a:p>
        </p:txBody>
      </p:sp>
      <p:sp>
        <p:nvSpPr>
          <p:cNvPr id="230" name="TextBox 9"/>
          <p:cNvSpPr txBox="1"/>
          <p:nvPr/>
        </p:nvSpPr>
        <p:spPr>
          <a:xfrm>
            <a:off x="960119" y="3429000"/>
            <a:ext cx="10241282" cy="23371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1000"/>
              </a:spcBef>
              <a:defRPr b="1">
                <a:solidFill>
                  <a:srgbClr val="222222"/>
                </a:solidFill>
              </a:defRPr>
            </a:pPr>
            <a:r>
              <a:t>•  Las categorías NO son excluyentes: marquen TODAS las que apliquen, cada una con su propio span.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palabra_subjetiva = TRUE  →  span: "impuso"  (sugiere autoritarismo; "expidió" sería neutro)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etiqueta_valorativa = TRUE  →  span: "polémica"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mind_reading = TRUE  →  span: "sabiendo que afectaría directamente a la clase media"</a:t>
            </a:r>
          </a:p>
          <a:p>
            <a:pPr>
              <a:spcBef>
                <a:spcPts val="1000"/>
              </a:spcBef>
              <a:defRPr>
                <a:solidFill>
                  <a:srgbClr val="222222"/>
                </a:solidFill>
              </a:defRPr>
            </a:pPr>
            <a:r>
              <a:t>•  Las otras 6 categorías quedan en FALSE. direccion = perjudica → actor_objetivo = Gobierno / Ejecutivo.</a:t>
            </a:r>
          </a:p>
          <a:p>
            <a:pPr>
              <a:spcBef>
                <a:spcPts val="1000"/>
              </a:spcBef>
              <a:defRPr b="1">
                <a:solidFill>
                  <a:srgbClr val="222222"/>
                </a:solidFill>
              </a:defRPr>
            </a:pPr>
            <a:r>
              <a:t>•  Sigue siendo UNA sola fila. Nunca dupliquen la oración para separar los mecanismos.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3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3"/>
          <p:cNvSpPr txBox="1"/>
          <p:nvPr/>
        </p:nvSpPr>
        <p:spPr>
          <a:xfrm>
            <a:off x="640080" y="320040"/>
            <a:ext cx="9144001" cy="1893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LA FILA COMPLETA</a:t>
            </a:r>
          </a:p>
        </p:txBody>
      </p:sp>
      <p:sp>
        <p:nvSpPr>
          <p:cNvPr id="235" name="TextBox 4"/>
          <p:cNvSpPr txBox="1"/>
          <p:nvPr/>
        </p:nvSpPr>
        <p:spPr>
          <a:xfrm>
            <a:off x="640079" y="658368"/>
            <a:ext cx="10789922" cy="398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Así queda esa oración en el Excel</a:t>
            </a:r>
          </a:p>
        </p:txBody>
      </p:sp>
      <p:sp>
        <p:nvSpPr>
          <p:cNvPr id="236" name="Rectangle 5"/>
          <p:cNvSpPr/>
          <p:nvPr/>
        </p:nvSpPr>
        <p:spPr>
          <a:xfrm>
            <a:off x="640080" y="1417319"/>
            <a:ext cx="3840480" cy="36577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TextBox 6"/>
          <p:cNvSpPr txBox="1"/>
          <p:nvPr/>
        </p:nvSpPr>
        <p:spPr>
          <a:xfrm>
            <a:off x="731519" y="1719072"/>
            <a:ext cx="10607042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500">
                <a:solidFill>
                  <a:srgbClr val="1F3864"/>
                </a:solidFill>
              </a:defRPr>
            </a:lvl1pPr>
          </a:lstStyle>
          <a:p>
            <a:pPr/>
            <a:r>
              <a:t>"El Gobierno impuso la polémica reforma tributaria pese a las advertencias de los gremios, sabiendo que afectaría directamente a la clase media."</a:t>
            </a:r>
          </a:p>
        </p:txBody>
      </p:sp>
      <p:graphicFrame>
        <p:nvGraphicFramePr>
          <p:cNvPr id="238" name="Table 7"/>
          <p:cNvGraphicFramePr/>
          <p:nvPr/>
        </p:nvGraphicFramePr>
        <p:xfrm>
          <a:off x="731519" y="2331720"/>
          <a:ext cx="5212081" cy="329184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8346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Categoría LÉXICA (J1)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Valor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verbo_factivo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FALSE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verbo_asertivo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FALSE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palabra_subjetiva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TRUE — span: "impuso"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hedge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FALSE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etiqueta_valorativa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TRUE — span: "polémica"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9" name="Table 8"/>
          <p:cNvGraphicFramePr/>
          <p:nvPr/>
        </p:nvGraphicFramePr>
        <p:xfrm>
          <a:off x="6126479" y="2331720"/>
          <a:ext cx="5212081" cy="329184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8346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Categoría DISCURSIVA (J2) y dirección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Valor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sensacionalismo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FALSE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mind_reading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TRUE — span: "sabiendo que…"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falta_atribucion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FALSE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opinion_como_hecho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FALSE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direccion / actor_objetivo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22222"/>
                          </a:solidFill>
                        </a:rPr>
                        <a:t>perjudica / Gobierno / Ejecutivo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242" name="Rounded Rectangle 9"/>
          <p:cNvGrpSpPr/>
          <p:nvPr/>
        </p:nvGrpSpPr>
        <p:grpSpPr>
          <a:xfrm>
            <a:off x="731519" y="5760720"/>
            <a:ext cx="10607042" cy="658369"/>
            <a:chOff x="0" y="0"/>
            <a:chExt cx="10607040" cy="658368"/>
          </a:xfrm>
        </p:grpSpPr>
        <p:sp>
          <p:nvSpPr>
            <p:cNvPr id="240" name="Rectángulo redondeado"/>
            <p:cNvSpPr/>
            <p:nvPr/>
          </p:nvSpPr>
          <p:spPr>
            <a:xfrm>
              <a:off x="0" y="0"/>
              <a:ext cx="10607041" cy="658369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 w="9525" cap="flat">
              <a:solidFill>
                <a:srgbClr val="D8DEE6"/>
              </a:solidFill>
              <a:prstDash val="solid"/>
              <a:round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1" name="Las 11 columnas que ustedes llenan: 9 categorías (cada una con su span si va en TRUE) + direccion + actor_objetivo."/>
            <p:cNvSpPr txBox="1"/>
            <p:nvPr/>
          </p:nvSpPr>
          <p:spPr>
            <a:xfrm>
              <a:off x="174061" y="203901"/>
              <a:ext cx="10350358" cy="277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1500">
                  <a:solidFill>
                    <a:srgbClr val="1F3864"/>
                  </a:solidFill>
                </a:defRPr>
              </a:lvl1pPr>
            </a:lstStyle>
            <a:p>
              <a:pPr/>
              <a:r>
                <a:t>Las 11 columnas que ustedes llenan: 9 categorías (cada una con su span si va en TRUE) + direccion + actor_objetivo.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6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EJERCICIO EN VIVO</a:t>
            </a:r>
          </a:p>
        </p:txBody>
      </p:sp>
      <p:sp>
        <p:nvSpPr>
          <p:cNvPr id="247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Ahora les toca a ustedes</a:t>
            </a:r>
          </a:p>
        </p:txBody>
      </p:sp>
      <p:sp>
        <p:nvSpPr>
          <p:cNvPr id="248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9" name="TextBox 6"/>
          <p:cNvSpPr txBox="1"/>
          <p:nvPr/>
        </p:nvSpPr>
        <p:spPr>
          <a:xfrm>
            <a:off x="777239" y="1600200"/>
            <a:ext cx="104241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1600">
                <a:solidFill>
                  <a:srgbClr val="595959"/>
                </a:solidFill>
              </a:defRPr>
            </a:lvl1pPr>
          </a:lstStyle>
          <a:p>
            <a:pPr/>
            <a:r>
              <a:t>Para cada oración: ¿tiene sesgo? ¿léxico o discursivo? ¿qué palabra/frase? ¿a quién favorece o perjudica?</a:t>
            </a:r>
          </a:p>
        </p:txBody>
      </p:sp>
      <p:graphicFrame>
        <p:nvGraphicFramePr>
          <p:cNvPr id="250" name="Table 7"/>
          <p:cNvGraphicFramePr/>
          <p:nvPr/>
        </p:nvGraphicFramePr>
        <p:xfrm>
          <a:off x="640080" y="2148839"/>
          <a:ext cx="10881360" cy="402336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754880"/>
                <a:gridCol w="1188720"/>
                <a:gridCol w="1920240"/>
                <a:gridCol w="1645920"/>
                <a:gridCol w="1371600"/>
              </a:tblGrid>
              <a:tr h="1005839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Oración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¿Sesgo?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¿Léxico / discursivo?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¿Qué palabra/frase?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¿A quién afecta?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10058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222222"/>
                          </a:solidFill>
                        </a:rPr>
                        <a:t>"El Gobierno impuso la polémica reforma sin consultar a los gremios."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10058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222222"/>
                          </a:solidFill>
                        </a:rPr>
                        <a:t>"Analistas creen que la cifra podría mejorar el próximo trimestre."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  <a:tr h="10058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222222"/>
                          </a:solidFill>
                        </a:rPr>
                        <a:t>"El plan pensional fracasará antes de que termine el año."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Rectangle 2"/>
          <p:cNvSpPr/>
          <p:nvPr/>
        </p:nvSpPr>
        <p:spPr>
          <a:xfrm>
            <a:off x="-1" y="0"/>
            <a:ext cx="164594" cy="6858000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4" name="TextBox 3"/>
          <p:cNvSpPr txBox="1"/>
          <p:nvPr/>
        </p:nvSpPr>
        <p:spPr>
          <a:xfrm>
            <a:off x="685800" y="320040"/>
            <a:ext cx="9052560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400">
                <a:solidFill>
                  <a:srgbClr val="E8A33D"/>
                </a:solidFill>
              </a:defRPr>
            </a:lvl1pPr>
          </a:lstStyle>
          <a:p>
            <a:pPr/>
            <a:r>
              <a:t>EJERCICIO EN VIVO</a:t>
            </a:r>
          </a:p>
        </p:txBody>
      </p:sp>
      <p:sp>
        <p:nvSpPr>
          <p:cNvPr id="255" name="TextBox 4"/>
          <p:cNvSpPr txBox="1"/>
          <p:nvPr/>
        </p:nvSpPr>
        <p:spPr>
          <a:xfrm>
            <a:off x="685799" y="658368"/>
            <a:ext cx="1069848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3000">
                <a:solidFill>
                  <a:srgbClr val="1F3864"/>
                </a:solidFill>
              </a:defRPr>
            </a:lvl1pPr>
          </a:lstStyle>
          <a:p>
            <a:pPr/>
            <a:r>
              <a:t>Comparemos lo que encontraron</a:t>
            </a:r>
          </a:p>
        </p:txBody>
      </p:sp>
      <p:sp>
        <p:nvSpPr>
          <p:cNvPr id="256" name="Rectangle 5"/>
          <p:cNvSpPr/>
          <p:nvPr/>
        </p:nvSpPr>
        <p:spPr>
          <a:xfrm>
            <a:off x="640080" y="1417319"/>
            <a:ext cx="3840480" cy="38101"/>
          </a:xfrm>
          <a:prstGeom prst="rect">
            <a:avLst/>
          </a:prstGeom>
          <a:solidFill>
            <a:srgbClr val="E8A33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aphicFrame>
        <p:nvGraphicFramePr>
          <p:cNvPr id="257" name="Table 6"/>
          <p:cNvGraphicFramePr/>
          <p:nvPr/>
        </p:nvGraphicFramePr>
        <p:xfrm>
          <a:off x="640080" y="1828800"/>
          <a:ext cx="10881360" cy="373075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4206240"/>
                <a:gridCol w="822960"/>
                <a:gridCol w="2560320"/>
                <a:gridCol w="1737360"/>
                <a:gridCol w="1554480"/>
              </a:tblGrid>
              <a:tr h="932688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Oración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¿Sesgo?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¿Léxico / discursivo?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¿Qué palabra/frase?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¿A quién afecta?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2F5496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"El Gobierno impuso la polémica reforma sin consultar a los gremios."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Sí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Léxico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"polémica" (y "impuso")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Perjudica → Gobierno / Ejecutivo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"Analistas creen que la cifra podría mejorar el próximo trimestre."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No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— (hedge honesto, cita a una fuente identificada)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Neutral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"El plan pensional fracasará antes de que termine el año."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Sí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Discursivo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"fracasará" → opinion_como_hecho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222222"/>
                          </a:solidFill>
                        </a:rPr>
                        <a:t>Perjudica → Gobierno / Ejecutivo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2F549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TextBox 2"/>
          <p:cNvSpPr txBox="1"/>
          <p:nvPr/>
        </p:nvSpPr>
        <p:spPr>
          <a:xfrm>
            <a:off x="868680" y="2377439"/>
            <a:ext cx="10424160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¡Gracias por su tiempo y su ayuda!</a:t>
            </a:r>
          </a:p>
        </p:txBody>
      </p:sp>
      <p:sp>
        <p:nvSpPr>
          <p:cNvPr id="261" name="TextBox 3"/>
          <p:cNvSpPr txBox="1"/>
          <p:nvPr/>
        </p:nvSpPr>
        <p:spPr>
          <a:xfrm>
            <a:off x="868680" y="3566159"/>
            <a:ext cx="1042416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2000">
                <a:solidFill>
                  <a:srgbClr val="D8E0F0"/>
                </a:solidFill>
              </a:defRPr>
            </a:lvl1pPr>
          </a:lstStyle>
          <a:p>
            <a:pPr/>
            <a:r>
              <a:t>Cualquier duda durante la anotación, escriban al canal del equipo — mejor preguntar que adivinar.</a:t>
            </a:r>
          </a:p>
        </p:txBody>
      </p:sp>
      <p:sp>
        <p:nvSpPr>
          <p:cNvPr id="262" name="TextBox 4"/>
          <p:cNvSpPr txBox="1"/>
          <p:nvPr/>
        </p:nvSpPr>
        <p:spPr>
          <a:xfrm>
            <a:off x="868680" y="457200"/>
            <a:ext cx="356616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b="1" sz="1300">
                <a:solidFill>
                  <a:srgbClr val="B8C6E6"/>
                </a:solidFill>
              </a:defRPr>
            </a:lvl1pPr>
          </a:lstStyle>
          <a:p>
            <a:pPr/>
            <a:r>
              <a:t>CIERRE</a:t>
            </a:r>
          </a:p>
        </p:txBody>
      </p:sp>
      <p:sp>
        <p:nvSpPr>
          <p:cNvPr id="263" name="TextBox 5"/>
          <p:cNvSpPr txBox="1"/>
          <p:nvPr/>
        </p:nvSpPr>
        <p:spPr>
          <a:xfrm>
            <a:off x="868680" y="5120640"/>
            <a:ext cx="10424160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115000"/>
              </a:lnSpc>
              <a:defRPr sz="1700">
                <a:solidFill>
                  <a:srgbClr val="D8E0F0"/>
                </a:solidFill>
              </a:defRPr>
            </a:lvl1pPr>
          </a:lstStyle>
          <a:p>
            <a:pPr/>
            <a:r>
              <a:t>Próximo paso: reciben el archivo Excel con su rango de oraciones asignado y el manual de anotación completo.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