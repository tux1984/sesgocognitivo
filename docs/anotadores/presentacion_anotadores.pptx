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2" r:id="rId23"/>
    <p:sldId id="264" r:id="rId15"/>
    <p:sldId id="265" r:id="rId16"/>
    <p:sldId id="259" r:id="rId10"/>
    <p:sldId id="260" r:id="rId11"/>
    <p:sldId id="261" r:id="rId12"/>
    <p:sldId id="262" r:id="rId13"/>
    <p:sldId id="263" r:id="rId14"/>
    <p:sldId id="273" r:id="rId24"/>
    <p:sldId id="266" r:id="rId17"/>
    <p:sldId id="267" r:id="rId18"/>
    <p:sldId id="268" r:id="rId19"/>
    <p:sldId id="274" r:id="rId25"/>
    <p:sldId id="275" r:id="rId26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4.xml"/><Relationship Id="rId24" Type="http://schemas.openxmlformats.org/officeDocument/2006/relationships/slide" Target="slides/slide12.xml"/><Relationship Id="rId25" Type="http://schemas.openxmlformats.org/officeDocument/2006/relationships/slide" Target="slides/slide16.xml"/><Relationship Id="rId26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Anotación de sesgo léxico y discursivo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en medios colombianos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8E0F0"/>
                </a:solidFill>
                <a:latin typeface="Calibri"/>
              </a:rPr>
              <a:t>Guía para anotadores — Trabajo de grado, Maestría en Inteligencia Artificial, PUJ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FBFE0"/>
                </a:solidFill>
                <a:latin typeface="Calibri"/>
              </a:rPr>
              <a:t>Sebastian Eduardo Fanchi  ·  Tutor: Andrés Darío Moreno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BIENVENIDA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Gracias por ayudarnos con esto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Lo que van a hacer en las próximas semanas es la base de todo el proyecto: sin ejemplos reales marcados a mano, no hay forma de entrenar ni evaluar nada de lo que viene después.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No necesitan saber programación ni lingüística formal — sí leer con calma y aplicar un criterio consistente.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Van a aparecer casos difíciles. Es normal — hay un canal abierto para resolver dudas, mejor preguntar que adivinar.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CONTEXTO Y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¿Cómo empezó esto y para qué sirve?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Hoy la mayoría de personas se informa por medios digitales, y a veces una noticia está redactada de forma que —sin que el lector lo note— favorece a alguien o perjudica a otro.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 Este proyecto construye un sistema que detecta ese sesgo, recomienda otras miradas sobre la misma noticia, y le explica al lector qué encontró.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Pero antes de enseñarle eso a un computador, alguien tiene que mostrarle ejemplos reales marcados a mano de qué es sesgo y qué no — sus 500 oraciones anotadas van a: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     -  Evaluar qué tan bien un modelo automático detecta el mismo sesgo que ustedes.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     -  Alimentar un motor que arma un mix diverso de noticias sobre un mismo tema.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     -  Generar explicaciones en lenguaje natural para el lector.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EL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Qué van a leer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657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500 oraciones reales, sacadas de 89 artículos de 5 medios colombianos (Infobae Colombia, El Tiempo, El Espectador, La Silla Vacía y Semana).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423160"/>
          <a:ext cx="10607040" cy="3017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766560"/>
                <a:gridCol w="1463040"/>
              </a:tblGrid>
              <a:tr h="50291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El debate que se cubre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Oraciones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Política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Transición de gobierno, relación con EE.UU., reformas pensional y tributaria, seguridad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Economía y negocios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Reforma laboral (Decreto 0234) y negociación del salario mínimo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Salud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Crisis de las EPS y reforma a la salud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Medio ambiente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Fracking y minería en el páramo de Santurbán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Deportes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Selección Colombia, caso Sebastián Villa y arbitraje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326 son noticia dura y 174 son opinión/análisis. El sesgo se ve distinto en cada una: en la noticia dura suele estar escondido; en la opinión es más explícito, y aun así hay que marcarlo igual.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EL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Cómo anotar, paso a paso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1.  Lean la oración completa (revisen la anterior/siguiente si hace falta contexto).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2.  ¿Alguna de las 9 categorías aplica? Repásenlas una por una si hace falta.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3.  Si SÍ: márquenla TRUE y escriban el span — la palabra o frase EXACTA responsable.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4.  Pueden aplicar varias a la vez: marquen todas las que correspondan, cada una con su span.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5.  Definan direccion y, si no es neutral, elijan actor_objetivo de la lista.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6.  Si NO aplica ninguna: todo en FALSE y direccion en neutral. Es un resultado tan válido como cualquier otro — no salteen esas oraciones.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LA HERRAMIENTA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Dónde van a trabajar: el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 Archivo: corpus_v2_multidominio_500_oraciones.xlsx. Trabajan en la hoja «Corpus - oraciones».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Una fila = una oración. Los datos van de la fila 5 a la 504: son las 500 oraciones, sin filas de ejemplo intercaladas.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Columnas A–I y url_fuente: vienen llenas y NO se tocan. La columna «aux» tampoco: alimenta el tablero de avance.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Las celdas amarillas son las suyas. Casi todas tienen desplegable: elijan de la lista, no escriban a mano.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¿Les falta contexto? Tienen oracion_anterior y oracion_siguiente al lado, y la url del artículo original al final de la fila.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Guarden seguido. Si una oración los traba, déjenla marcada y sigan — mejor consultarla después que frenar el avance.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EL CONCEPTO CENTRAL — 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Sesgo léxico: el que sí se nota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7744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LÉXICO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Vive en UNA PALABRA o frase corta cargada de valoración.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El lector normalmente lo detecta solo, aunque no sepa ponerle nombre.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Ejemplo: "el ministro maniobró para evitar la pregunta" en vez de "el ministro gestionó..."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"Maniobró" ya trae un juicio implícito — sugiere algo turbio, sin decirlo directamente.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EL CONCEPTO CENTRAL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Sesgo discursivo: el que cuesta notar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77440" cy="457200"/>
          </a:xfrm>
          <a:prstGeom prst="round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DISCURSIVO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No es una palabra puntual — es CÓMO está armada la oración completa.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El lector normalmente no lo detecta sin ayuda, aunque el efecto sí lo afecte.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Ejemplo: "El alcalde sabía que la obra fracasaría, pero la inauguró igual."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Nadie entrevistó al alcalde para saber qué pensaba — se le atribuye una intención sin ninguna fuente.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Por eso es más importante explicarlo: el lector no lo va a notar solo.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LAS 9 CATEGORÍAS — GRUPO LÉXICO (J1)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5 formas de sesgo léxico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46320"/>
                <a:gridCol w="365760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Categoría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En criollo, ¿qué es?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Ejemplo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verbo_factivo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Da por hecho algo, sin dejar espacio a duda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"reconoció que la medida fue un error"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verbo_asertivo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Da certeza a algo sin evidencia que lo respalde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"confirmó" en vez del neutro "dijo"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palabra_subjetiva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Un verbo o sustantivo con juicio de valor escondido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"maniobró" en vez de "gestionó"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hedge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Matiza una duda (¡cuidado! no siempre es sesgo)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"presuntamente", "al parecer"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etiqueta_valorativa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Un adjetivo o etiqueta claramente calificativa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"la polémica reforma"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LAS 9 CATEGORÍAS — GRUPO DISCURSIVO (J2)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4 formas de sesgo discursivo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29200"/>
                <a:gridCol w="3474720"/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Categoría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En criollo, ¿qué es?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Ejemplo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sensacionalismo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Tono exagerado o dramático para generar impacto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"un escándalo sin precedentes"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mind_reading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Le atribuye un pensamiento o intención a alguien sin fuente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"sabiendo que esto afectaría..."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falta_atribucion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Una afirmación fuerte sin decir quién la sostiene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"se dice que..." sin nombrar a nadie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opinion_como_hecho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Una opinión con estructura gramatical de hecho comprobado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"el plan fracasará" (sin matiz)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DIRECCIÓN DEL SESGO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¿A quién afecta la oración?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direccion: ¿la oración favorece a alguien, lo perjudica, o es neutral?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      -  Piensen en el actor del que habla la oración, no en el medio que la publicó.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      -  Si nadie sale favorecido ni perjudicado, es neutral. Es una respuesta válida y frecuente.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actor_objetivo: ¿a quién apunta? Se elige de una lista cerrada (la vemos ahora).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      -  Se llena solo cuando la dirección NO es neutral.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•  Y eso es todo: 9 categorías + dirección + actor. No hay escalas numéricas que calificar.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DIRECCIÓN DEL SESGO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actor_objetivo: elijan de la 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657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Ya no es texto libre: es un desplegable con 9 opciones. Esto evita que cada quien escriba distinto.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240280"/>
          <a:ext cx="10607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675120"/>
              </a:tblGrid>
              <a:tr h="3520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Opción del desplegable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Ejemplos que van a encontrar en el corpus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Gobierno / Ejecutivo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Petro, De la Espriella, ministros, Minsalud, MinAmbiente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Oposición / partidos políticos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Pacto Histórico, Alianza Verde, Iván Cepeda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Instituciones del Estado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Corte Constitucional, Contraloría, Supersalud, Policía, Banco de la República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Empresas y gremios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EPS, Fenalco, ANDI, mineras, Ecopetrol, Avianca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Sindicatos y organizaciones sociales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CUT, centrales obreras, Comité Santurbán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Ciudadanía afectada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Pacientes, usuarios, comunidades, hinchada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Actores del deporte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FCF, Dimayor, Néstor Lorenzo, jugadores, árbitros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Actor internacional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Trump, EE.UU., Venezuela, multinacionales, IPCC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Otro / no identificable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Cuando de verdad no encaja en ninguna de las anteriores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897880"/>
            <a:ext cx="106070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Dos reglas: anoten el ROL, no la persona (Petro como presidente → Gobierno / Ejecutivo).   ·   Si direccion = neutral, dejen la celda vacía.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ANTES DE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Tips y errores comunes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Un hedge no siempre es sesgo.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     -  Si matiza una fuente genuinamente no confirmada, reduce el sesgo, no lo agrega — miren la dirección del matiz, no solo si está presente.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No confundan la opinión de una fuente citada con la del periodista.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     -  Si está entre comillas y atribuida a alguien identificado, es opinión de esa persona.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Anoten lo literal, no lo que creen que el periodista "quiso decir".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EJEMPLO RESUELTO 1 — LÉXICO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Vamos a razonarlo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237744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SOLO LÉXICO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"El polémico ministro se negó a responder preguntas de los periodistas."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2412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etiqueta_valorativa = TRUE  →  span: "polémico"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Las demás categorías: FALSE (no hay más mecanismos presentes).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direccion = perjudica  →  actor_objetivo = Gobierno / Ejecutivo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EJEMPLO RESUELTO 2 — DISCURSIVO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Vamos a razonarlo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2377440" cy="457200"/>
          </a:xfrm>
          <a:prstGeom prst="round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SOLO DISCURSIVO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"El alcalde sabía que la obra fracasaría, pero decidió inaugurarla de todas formas."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2412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mind_reading = TRUE  →  span: "sabía que la obra fracasaría"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No hay ninguna palabra léxicamente cargada — el sesgo está en la estructura.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direccion = perjudica  →  actor_objetivo = Gobierno / Ejecutivo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EJEMPLO RESUELTO 3 — LOS DOS A LA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¿Y si la oración tiene ambos?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657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2926080" cy="4572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LÉXICO + DISCURSIVO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"El Gobierno impuso la polémica reforma tributaria pese a las advertencias de los gremios, sabiendo que afectaría directamente a la clase media."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102412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 Las categorías NO son excluyentes: marquen TODAS las que apliquen, cada una con su propio span.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palabra_subjetiva = TRUE  →  span: "impuso"  (sugiere autoritarismo; "expidió" sería neutro)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etiqueta_valorativa = TRUE  →  span: "polémica"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mind_reading = TRUE  →  span: "sabiendo que afectaría directamente a la clase media"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Las otras 6 categorías quedan en FALSE. direccion = perjudica → actor_objetivo = Gobierno / Ejecutivo.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 Sigue siendo UNA sola fila. Nunca dupliquen la oración para separar los mecanismos.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LA FILA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Así queda esa oración en el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657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"El Gobierno impuso la polémica reforma tributaria pese a las advertencias de los gremios, sabiendo que afectaría directamente a la clase media."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33172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Categoría LÉXICA (J1)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verbo_factivo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verbo_asertivo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palabra_subjetiva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TRUE — span: "impuso"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hedge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etiqueta_valorativa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TRUE — span: "polémica"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233172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Categoría DISCURSIVA (J2) y dirección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91440" marR="73152" anchor="ctr">
                    <a:solidFill>
                      <a:srgbClr val="2F549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sensacionalismo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mind_reading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TRUE — span: "sabiendo que…"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falta_atribucion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opinion_como_hecho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direccion / actor_objetivo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perjudica / Gobierno / Ejecutivo</a:t>
                      </a:r>
                    </a:p>
                  </a:txBody>
                  <a:tcPr marL="91440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760720"/>
            <a:ext cx="106070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Las 11 columnas que ustedes llenan: 9 categorías (cada una con su span si va en TRUE) + direccion + actor_objetivo.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EJERCICIO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Ahora les toca a ustedes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95959"/>
                </a:solidFill>
                <a:latin typeface="Calibri"/>
              </a:rPr>
              <a:t>Para cada oración: ¿tiene sesgo? ¿léxico o discursivo? ¿qué palabra/frase? ¿a quién favorece o perjudica?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488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188720"/>
                <a:gridCol w="1920240"/>
                <a:gridCol w="1645920"/>
                <a:gridCol w="1371600"/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Oración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¿Sesgo?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¿Léxico / discursivo?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¿Qué palabra/frase?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¿A quién afecta?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"El Gobierno impuso la polémica reforma sin consultar a los gremios."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"Analistas creen que la cifra podría mejorar el próximo trimestre."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"El plan pensional fracasará antes de que termine el año."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EJERCICIO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Comparemos lo que encontraron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84048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822960"/>
                <a:gridCol w="2560320"/>
                <a:gridCol w="1737360"/>
                <a:gridCol w="1554480"/>
              </a:tblGrid>
              <a:tr h="93268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Oración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¿Sesgo?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¿Léxico / discursivo?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¿Qué palabra/frase?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¿A quién afecta?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"El Gobierno impuso la polémica reforma sin consultar a los gremios."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Léxico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"polémica" (y "impuso")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Perjudica → Gobierno / Ejecutivo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"Analistas creen que la cifra podría mejorar el próximo trimestre."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— (hedge honesto, cita a una fuente identificada)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Neutral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"El plan pensional fracasará antes de que termine el año."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Discursivo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"fracasará" → opinion_como_hecho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Perjudica → Gobierno / Ejecutivo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Calibri"/>
              </a:rPr>
              <a:t>Un caso de cada tipo: la 1 es léxica (una palabra cargada), la 2 no tiene sesgo (hedge honesto con fuente identificada) y la 3 es discursiva (una opinión escrita como si fuera un hecho).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¡Gracias por su tiempo y su ayuda!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D8E0F0"/>
                </a:solidFill>
                <a:latin typeface="Calibri"/>
              </a:rPr>
              <a:t>Cualquier duda durante la anotación, escriban al canal del equipo — mejor preguntar que adivinar.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C6E6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8E0F0"/>
                </a:solidFill>
                <a:latin typeface="Calibri"/>
              </a:rPr>
              <a:t>Próximo paso: reciben el archivo Excel con su rango de oraciones asignado y el manual de anotación completo.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